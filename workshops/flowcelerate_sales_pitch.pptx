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4B8A6"/>
                </a:solidFill>
                <a:latin typeface="Arial"/>
              </a:defRPr>
            </a:pPr>
            <a:r>
              <a:t>FLOWCELERATE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ServiceNow Architectural Judgement</a:t>
            </a:r>
          </a:p>
          <a:p>
            <a:pPr>
              <a:spcBef>
                <a:spcPts val="2000"/>
              </a:spcBef>
              <a:defRPr sz="1800">
                <a:solidFill>
                  <a:srgbClr val="64748B"/>
                </a:solidFill>
                <a:latin typeface="Arial"/>
              </a:defRPr>
            </a:pPr>
            <a:r>
              <a:t>Certified Technical Architect (CTA) Services for Insurance &amp; Financial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Why GSIs Fail Regulated Firms</a:t>
            </a:r>
          </a:p>
          <a:p>
            <a:pPr>
              <a:spcBef>
                <a:spcPts val="500"/>
              </a:spcBef>
              <a:defRPr sz="1600" b="1">
                <a:solidFill>
                  <a:srgbClr val="2563EB"/>
                </a:solidFill>
                <a:latin typeface="Arial"/>
              </a:defRPr>
            </a:pPr>
            <a:r>
              <a:t>THE CORE DIFFERENCE: ARCHITECTURAL JUDGEMENT OVER BODY SHOPPING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Junior Dev Handoffs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Large systems integrators scope with senior teams but build using junior developers who write custom code instead of out-of-box patterns.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Compliance Mismatch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Textbook ITIL designs do not map to Solvency II / DORA requirements, creating compliance failures at audit time.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Bespoke Technical Debt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Generic developers build bespoke modifications that break during platform upgrades, increasing lifetime platform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Offering 1: DORA CMDB Readiness Review</a:t>
            </a:r>
          </a:p>
          <a:p>
            <a:pPr>
              <a:spcBef>
                <a:spcPts val="500"/>
              </a:spcBef>
              <a:defRPr sz="1600" b="1">
                <a:solidFill>
                  <a:srgbClr val="2563EB"/>
                </a:solidFill>
                <a:latin typeface="Arial"/>
              </a:defRPr>
            </a:pPr>
            <a:r>
              <a:t>10-DAY FIXED COMPLIANCE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Regulatory Gap Scorecard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A comprehensive audit of discovery failures, duplicate CIs, and service dependency coverage gaps.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CSDM Service Mapping Blueprint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Technical roadmaps to map your top 5 Important Business Services (IBS) to platform infrastructure.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Outcome-based Timelines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Delivered in exactly 10 days for a flat rate, giving you clear inputs for your compliance board reviews.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Offering 2: SAM Pro Audit Defense</a:t>
            </a:r>
          </a:p>
          <a:p>
            <a:pPr>
              <a:spcBef>
                <a:spcPts val="500"/>
              </a:spcBef>
              <a:defRPr sz="1600" b="1">
                <a:solidFill>
                  <a:srgbClr val="2563EB"/>
                </a:solidFill>
                <a:latin typeface="Arial"/>
              </a:defRPr>
            </a:pPr>
            <a:r>
              <a:t>PRODUCTIZED LICENSE 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Effective License Position (ELP)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Reconcile physical/virtual environments to calculate exposure for high-risk vendors (Oracle, MS, IBM).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Defensible Compliance Playbook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Standard Operating Procedures (SOPs) enabling procurement teams to defend audits with platform proof.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License Reclamation Automation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Establish automated harvesting loops to recover unused software and save 15-25% of license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Offering 3: ServiceNow AI &amp; Agentic Strategy</a:t>
            </a:r>
          </a:p>
          <a:p>
            <a:pPr>
              <a:spcBef>
                <a:spcPts val="500"/>
              </a:spcBef>
              <a:defRPr sz="1600" b="1">
                <a:solidFill>
                  <a:srgbClr val="2563EB"/>
                </a:solidFill>
                <a:latin typeface="Arial"/>
              </a:defRPr>
            </a:pPr>
            <a:r>
              <a:t>GOVERNED NOW ASSIST &amp; FLOW DESIGNER GENAI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Model Risk Compliance Files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Structured audit trails outlining prompt grounding sources and security bounds to satisfy risk boards.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Human-in-the-Loop Routing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Configure fallback models that automatically route low-confidence AI predictions to human specialist queues.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High-ROI Use-case Roadmaps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Targeted automation scripts covering high-frequency claims triage and major incident reporting loops.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192F"/>
                </a:solidFill>
                <a:latin typeface="Arial"/>
              </a:defRPr>
            </a:pPr>
            <a:r>
              <a:t>Offering 4: Fractional CTA Peer Review</a:t>
            </a:r>
          </a:p>
          <a:p>
            <a:pPr>
              <a:spcBef>
                <a:spcPts val="500"/>
              </a:spcBef>
              <a:defRPr sz="1600" b="1">
                <a:solidFill>
                  <a:srgbClr val="2563EB"/>
                </a:solidFill>
                <a:latin typeface="Arial"/>
              </a:defRPr>
            </a:pPr>
            <a:r>
              <a:t>ONGOING TECHNICAL DEBT PREVENTION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Bi-Weekly Quality Audits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Direct architectural audit of your implementation partner's code to catch customization debt before deployment.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Independent Design Sign-off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Neutral review of technical specifications to ensure alignment with standard platform upgrade paths.</a:t>
            </a:r>
          </a:p>
          <a:p>
            <a:pPr>
              <a:spcBef>
                <a:spcPts val="1200"/>
              </a:spcBef>
              <a:defRPr sz="2200" b="1">
                <a:solidFill>
                  <a:srgbClr val="0A192F"/>
                </a:solidFill>
                <a:latin typeface="Arial"/>
              </a:defRPr>
            </a:pPr>
            <a:r>
              <a:t>Strategic Advisory Access</a:t>
            </a:r>
          </a:p>
          <a:p>
            <a:pPr lvl="1">
              <a:spcBef>
                <a:spcPts val="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Ongoing access to a ServiceNow Certified Technical Architect for steering committee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